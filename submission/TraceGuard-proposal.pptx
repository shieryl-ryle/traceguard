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github.com/shieryl-ryle/traceguard" TargetMode="External"/><Relationship Id="rId6" Type="http://schemas.openxmlformats.org/officeDocument/2006/relationships/hyperlink" Target="https://traceguard-343683630064.asia-southeast1.run.app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Google Sans Flex"/>
                <a:cs typeface="Google Sans Flex"/>
                <a:sym typeface="Google Sans Flex"/>
              </a:rPr>
              <a:t>Team name: Chilli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Google Sans Flex"/>
                <a:cs typeface="Google Sans Flex"/>
                <a:sym typeface="Google Sans Flex"/>
              </a:rPr>
              <a:t>Team leader name: Shieryl Tendilla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>
                <a:latin typeface="Google Sans Flex"/>
                <a:ea typeface="Google Sans Flex"/>
                <a:cs typeface="Google Sans Flex"/>
                <a:sym typeface="Google Sans Flex"/>
              </a:rPr>
              <a:t>Problem Statement: BFSI – Intelligent Risk, Fraud &amp; Financial Experiences. Fraud analysts reviewing one alert can't see the connected fund movements behind it, or prove them.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65760" y="1188720"/>
            <a:ext cx="502920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i="0">
                <a:solidFill>
                  <a:srgbClr val="1A73E8"/>
                </a:solidFill>
                <a:latin typeface="Google Sans Flex SemiBold"/>
              </a:rPr>
              <a:t>TraceGuard</a:t>
            </a:r>
          </a:p>
          <a:p>
            <a:pPr algn="l">
              <a:spcAft>
                <a:spcPts val="800"/>
              </a:spcAft>
            </a:pPr>
            <a:r>
              <a:rPr sz="1300" i="0">
                <a:solidFill>
                  <a:srgbClr val="202124"/>
                </a:solidFill>
                <a:latin typeface="Google Sans Flex"/>
              </a:rPr>
              <a:t>A graph-powered AI investigation assistant for fraud operations analysts at banks, e-wallets and fintechs.</a:t>
            </a:r>
          </a:p>
          <a:p>
            <a:pPr algn="l">
              <a:spcAft>
                <a:spcPts val="800"/>
              </a:spcAft>
            </a:pPr>
            <a:r>
              <a:rPr sz="1300" i="0">
                <a:solidFill>
                  <a:srgbClr val="202124"/>
                </a:solidFill>
                <a:latin typeface="Google Sans Flex"/>
              </a:rPr>
              <a:t>It traces suspicious fund movements across accounts and devices, then writes an evidence-linked case brief with Gemini on Vertex AI, where every claim is cited to a real transaction or rule result.</a:t>
            </a:r>
          </a:p>
        </p:txBody>
      </p:sp>
      <p:sp>
        <p:nvSpPr>
          <p:cNvPr id="65" name="pillar 1"/>
          <p:cNvSpPr/>
          <p:nvPr/>
        </p:nvSpPr>
        <p:spPr>
          <a:xfrm>
            <a:off x="5623560" y="1234440"/>
            <a:ext cx="3154680" cy="89611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760720" y="135331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2200" y="1307592"/>
            <a:ext cx="2514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Graph evidence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Paths, time windows, sums and rule flags computed by code, never by the model.</a:t>
            </a:r>
          </a:p>
        </p:txBody>
      </p:sp>
      <p:sp>
        <p:nvSpPr>
          <p:cNvPr id="68" name="pillar 2"/>
          <p:cNvSpPr/>
          <p:nvPr/>
        </p:nvSpPr>
        <p:spPr>
          <a:xfrm>
            <a:off x="5623560" y="2258568"/>
            <a:ext cx="3154680" cy="89611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760720" y="2377440"/>
            <a:ext cx="310896" cy="3108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2331720"/>
            <a:ext cx="2514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Cited AI brief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Observations, counterevidence and unknowns. Every ID is validated before display.</a:t>
            </a:r>
          </a:p>
        </p:txBody>
      </p:sp>
      <p:sp>
        <p:nvSpPr>
          <p:cNvPr id="71" name="pillar 3"/>
          <p:cNvSpPr/>
          <p:nvPr/>
        </p:nvSpPr>
        <p:spPr>
          <a:xfrm>
            <a:off x="5623560" y="3282696"/>
            <a:ext cx="3154680" cy="89611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760720" y="3401568"/>
            <a:ext cx="310896" cy="310896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2200" y="3355848"/>
            <a:ext cx="2514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Honest by design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"Pattern warrants review", never "guilty". It says what the data can't show.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4206240"/>
            <a:ext cx="5029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i="0">
                <a:solidFill>
                  <a:srgbClr val="5F6368"/>
                </a:solidFill>
                <a:latin typeface="Google Sans Flex SemiBold"/>
              </a:rPr>
              <a:t>Investigation aid only: </a:t>
            </a:r>
            <a:r>
              <a:rPr sz="1050" i="0">
                <a:solidFill>
                  <a:srgbClr val="5F6368"/>
                </a:solidFill>
                <a:latin typeface="Google Sans Flex"/>
              </a:rPr>
              <a:t>it does not block transfers, declare guilt, file regulatory reports or give a risk score. All data is synthetic.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72" name="opportunity 1"/>
          <p:cNvSpPr/>
          <p:nvPr/>
        </p:nvSpPr>
        <p:spPr>
          <a:xfrm>
            <a:off x="320040" y="1188720"/>
            <a:ext cx="2724912" cy="3246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57200" y="1325880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2" y="1344168"/>
            <a:ext cx="21031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0">
                <a:solidFill>
                  <a:srgbClr val="202124"/>
                </a:solidFill>
                <a:latin typeface="Google Sans Flex SemiBold"/>
              </a:rPr>
              <a:t>How it differs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1783080"/>
            <a:ext cx="2487168" cy="2606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46304">
              <a:spcAft>
                <a:spcPts val="7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Shows connections, not single transactions: a time-ordered money trail across accounts and devices.</a:t>
            </a:r>
          </a:p>
          <a:p>
            <a:pPr algn="l" marL="164592" indent="-146304">
              <a:spcAft>
                <a:spcPts val="7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Separates duties: deterministic graph tools decide; Gemini only explains.</a:t>
            </a:r>
          </a:p>
          <a:p>
            <a:pPr algn="l" marL="164592" indent="-146304">
              <a:spcAft>
                <a:spcPts val="7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Refuses to guess: unknowns past the data boundary are stated, not filled in.</a:t>
            </a:r>
          </a:p>
        </p:txBody>
      </p:sp>
      <p:sp>
        <p:nvSpPr>
          <p:cNvPr id="76" name="opportunity 2"/>
          <p:cNvSpPr/>
          <p:nvPr/>
        </p:nvSpPr>
        <p:spPr>
          <a:xfrm>
            <a:off x="3182112" y="1188720"/>
            <a:ext cx="2724912" cy="3246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19272" y="1325880"/>
            <a:ext cx="310896" cy="3108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12463" y="1344168"/>
            <a:ext cx="21031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0">
                <a:solidFill>
                  <a:srgbClr val="202124"/>
                </a:solidFill>
                <a:latin typeface="Google Sans Flex SemiBold"/>
              </a:rPr>
              <a:t>How it solves the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19272" y="1783080"/>
            <a:ext cx="2487168" cy="2606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46304">
              <a:spcAft>
                <a:spcPts val="7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Retrieves the connected evidence for an alert in one click.</a:t>
            </a:r>
          </a:p>
          <a:p>
            <a:pPr algn="l" marL="164592" indent="-146304">
              <a:spcAft>
                <a:spcPts val="7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Turns it into a brief with observations, counterevidence, unknowns and next checks.</a:t>
            </a:r>
          </a:p>
          <a:p>
            <a:pPr algn="l" marL="164592" indent="-146304">
              <a:spcAft>
                <a:spcPts val="7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Each citation highlights its record on the graph and timeline, so it can be checked in place.</a:t>
            </a:r>
          </a:p>
        </p:txBody>
      </p:sp>
      <p:sp>
        <p:nvSpPr>
          <p:cNvPr id="80" name="opportunity 3"/>
          <p:cNvSpPr/>
          <p:nvPr/>
        </p:nvSpPr>
        <p:spPr>
          <a:xfrm>
            <a:off x="6044183" y="1188720"/>
            <a:ext cx="2724912" cy="3246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181344" y="1325880"/>
            <a:ext cx="310896" cy="310896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74536" y="1344168"/>
            <a:ext cx="21031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0">
                <a:solidFill>
                  <a:srgbClr val="202124"/>
                </a:solidFill>
                <a:latin typeface="Google Sans Flex SemiBold"/>
              </a:rPr>
              <a:t>USP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81344" y="1783080"/>
            <a:ext cx="2487168" cy="2606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46304">
              <a:spcAft>
                <a:spcPts val="7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Every cited ID and every figure in the brief is validated against tool output. A failing brief is regenerated once, then blocked.</a:t>
            </a:r>
          </a:p>
          <a:p>
            <a:pPr algn="l" marL="164592" indent="-146304">
              <a:spcAft>
                <a:spcPts val="7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Counterevidence is computed, not invented (e.g. senders not on the shared device).</a:t>
            </a:r>
          </a:p>
          <a:p>
            <a:pPr algn="l" marL="164592" indent="-146304">
              <a:spcAft>
                <a:spcPts val="7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Careful language enforced in code: no accusations, probabilities or risk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feature 1"/>
          <p:cNvSpPr/>
          <p:nvPr/>
        </p:nvSpPr>
        <p:spPr>
          <a:xfrm>
            <a:off x="320040" y="1188720"/>
            <a:ext cx="2724912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38912" y="1316736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528" y="1298448"/>
            <a:ext cx="2176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Case queue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3 synthetic alert cases, clearly labelled "synthetic data"</a:t>
            </a:r>
          </a:p>
        </p:txBody>
      </p:sp>
      <p:sp>
        <p:nvSpPr>
          <p:cNvPr id="83" name="feature 2"/>
          <p:cNvSpPr/>
          <p:nvPr/>
        </p:nvSpPr>
        <p:spPr>
          <a:xfrm>
            <a:off x="3182112" y="1188720"/>
            <a:ext cx="2724912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300984" y="1316736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0" y="1298448"/>
            <a:ext cx="2176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Timeline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Each case's transfers in time order; select rows to highlight them</a:t>
            </a:r>
          </a:p>
        </p:txBody>
      </p:sp>
      <p:sp>
        <p:nvSpPr>
          <p:cNvPr id="86" name="feature 3"/>
          <p:cNvSpPr/>
          <p:nvPr/>
        </p:nvSpPr>
        <p:spPr>
          <a:xfrm>
            <a:off x="6044183" y="1188720"/>
            <a:ext cx="2724912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163055" y="1316736"/>
            <a:ext cx="274320" cy="2743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19671" y="1298448"/>
            <a:ext cx="2176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Relationship graph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Accounts and devices; one arrow per transfer, so repeats never merge</a:t>
            </a:r>
          </a:p>
        </p:txBody>
      </p:sp>
      <p:sp>
        <p:nvSpPr>
          <p:cNvPr id="89" name="feature 4"/>
          <p:cNvSpPr/>
          <p:nvPr/>
        </p:nvSpPr>
        <p:spPr>
          <a:xfrm>
            <a:off x="320040" y="2404872"/>
            <a:ext cx="2724912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38912" y="2532888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5528" y="2514600"/>
            <a:ext cx="2176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5 deterministic tools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Account context, fund trace, shared devices, rapid forwarding, fan-in</a:t>
            </a:r>
          </a:p>
        </p:txBody>
      </p:sp>
      <p:sp>
        <p:nvSpPr>
          <p:cNvPr id="92" name="feature 5"/>
          <p:cNvSpPr/>
          <p:nvPr/>
        </p:nvSpPr>
        <p:spPr>
          <a:xfrm>
            <a:off x="3182112" y="2404872"/>
            <a:ext cx="2724912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300984" y="2532888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57600" y="2514600"/>
            <a:ext cx="2176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AI investigation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Gemini on Vertex AI over retrieved evidence, with a visible tool log</a:t>
            </a:r>
          </a:p>
        </p:txBody>
      </p:sp>
      <p:sp>
        <p:nvSpPr>
          <p:cNvPr id="95" name="feature 6"/>
          <p:cNvSpPr/>
          <p:nvPr/>
        </p:nvSpPr>
        <p:spPr>
          <a:xfrm>
            <a:off x="6044183" y="2404872"/>
            <a:ext cx="2724912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163055" y="2532888"/>
            <a:ext cx="274320" cy="2743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19671" y="2514600"/>
            <a:ext cx="2176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Evidence-linked brief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Observations, counterevidence, unknowns, suggested checks</a:t>
            </a:r>
          </a:p>
        </p:txBody>
      </p:sp>
      <p:sp>
        <p:nvSpPr>
          <p:cNvPr id="98" name="feature 7"/>
          <p:cNvSpPr/>
          <p:nvPr/>
        </p:nvSpPr>
        <p:spPr>
          <a:xfrm>
            <a:off x="320040" y="3621024"/>
            <a:ext cx="2724912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8912" y="3749039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5528" y="3730752"/>
            <a:ext cx="2176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Citation navigation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Click an evidence ID to highlight its record on graph and timeline</a:t>
            </a:r>
          </a:p>
        </p:txBody>
      </p:sp>
      <p:sp>
        <p:nvSpPr>
          <p:cNvPr id="101" name="feature 8"/>
          <p:cNvSpPr/>
          <p:nvPr/>
        </p:nvSpPr>
        <p:spPr>
          <a:xfrm>
            <a:off x="3182112" y="3621024"/>
            <a:ext cx="2724912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300984" y="3749039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57600" y="3730752"/>
            <a:ext cx="2176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Markdown export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Download the brief with model, run time and evidence list</a:t>
            </a:r>
          </a:p>
        </p:txBody>
      </p:sp>
      <p:sp>
        <p:nvSpPr>
          <p:cNvPr id="104" name="feature 9"/>
          <p:cNvSpPr/>
          <p:nvPr/>
        </p:nvSpPr>
        <p:spPr>
          <a:xfrm>
            <a:off x="6044183" y="3621024"/>
            <a:ext cx="2724912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163055" y="3749039"/>
            <a:ext cx="274320" cy="2743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19671" y="3730752"/>
            <a:ext cx="2176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Readable errors</a:t>
            </a:r>
          </a:p>
          <a:p>
            <a:pPr algn="l">
              <a:spcAft>
                <a:spcPts val="2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Timeout, quota or permission errors explained; graph stays usable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step 1"/>
          <p:cNvSpPr/>
          <p:nvPr/>
        </p:nvSpPr>
        <p:spPr>
          <a:xfrm>
            <a:off x="320040" y="1417320"/>
            <a:ext cx="1280160" cy="14630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04671" y="1545336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4904" y="1920240"/>
            <a:ext cx="1170431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Open alert</a:t>
            </a:r>
          </a:p>
          <a:p>
            <a:pPr algn="ctr">
              <a:spcAft>
                <a:spcPts val="2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Pick a case from the queue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618488" y="2148840"/>
            <a:ext cx="128016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step 2"/>
          <p:cNvSpPr/>
          <p:nvPr/>
        </p:nvSpPr>
        <p:spPr>
          <a:xfrm>
            <a:off x="1764791" y="1417320"/>
            <a:ext cx="1280160" cy="14630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249424" y="1545336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19655" y="1920240"/>
            <a:ext cx="1170431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Inspect</a:t>
            </a:r>
          </a:p>
          <a:p>
            <a:pPr algn="ctr">
              <a:spcAft>
                <a:spcPts val="2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Graph and time-ordered timeline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3063239" y="2148840"/>
            <a:ext cx="128017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tep 3"/>
          <p:cNvSpPr/>
          <p:nvPr/>
        </p:nvSpPr>
        <p:spPr>
          <a:xfrm>
            <a:off x="3209544" y="1417320"/>
            <a:ext cx="1280160" cy="14630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694176" y="1545336"/>
            <a:ext cx="310896" cy="3108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64408" y="1920240"/>
            <a:ext cx="1170431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Run AI investigation</a:t>
            </a:r>
          </a:p>
          <a:p>
            <a:pPr algn="ctr">
              <a:spcAft>
                <a:spcPts val="2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Fixed workflow runs every graph tool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507992" y="2148840"/>
            <a:ext cx="128016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step 4"/>
          <p:cNvSpPr/>
          <p:nvPr/>
        </p:nvSpPr>
        <p:spPr>
          <a:xfrm>
            <a:off x="4654295" y="1417320"/>
            <a:ext cx="1280160" cy="14630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138927" y="1545336"/>
            <a:ext cx="310896" cy="3108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09159" y="1920240"/>
            <a:ext cx="1170431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Validate</a:t>
            </a:r>
          </a:p>
          <a:p>
            <a:pPr algn="ctr">
              <a:spcAft>
                <a:spcPts val="2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Citations, figures and wording checked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952743" y="2148840"/>
            <a:ext cx="128016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step 5"/>
          <p:cNvSpPr/>
          <p:nvPr/>
        </p:nvSpPr>
        <p:spPr>
          <a:xfrm>
            <a:off x="6099047" y="1417320"/>
            <a:ext cx="1280160" cy="14630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583679" y="1545336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53911" y="1920240"/>
            <a:ext cx="1170431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Review brief</a:t>
            </a:r>
          </a:p>
          <a:p>
            <a:pPr algn="ctr">
              <a:spcAft>
                <a:spcPts val="2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Click citations to verify each claim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397495" y="2148840"/>
            <a:ext cx="128016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step 6"/>
          <p:cNvSpPr/>
          <p:nvPr/>
        </p:nvSpPr>
        <p:spPr>
          <a:xfrm>
            <a:off x="7543800" y="1417320"/>
            <a:ext cx="1280160" cy="14630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028431" y="1545336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598664" y="1920240"/>
            <a:ext cx="1170431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Export</a:t>
            </a:r>
          </a:p>
          <a:p>
            <a:pPr algn="ctr">
              <a:spcAft>
                <a:spcPts val="2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Markdown brief for the case file</a:t>
            </a:r>
          </a:p>
        </p:txBody>
      </p:sp>
      <p:sp>
        <p:nvSpPr>
          <p:cNvPr id="111" name="validation detail"/>
          <p:cNvSpPr/>
          <p:nvPr/>
        </p:nvSpPr>
        <p:spPr>
          <a:xfrm>
            <a:off x="320040" y="3154680"/>
            <a:ext cx="85039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2920" y="3246120"/>
            <a:ext cx="82296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Inside steps 3–4 </a:t>
            </a:r>
            <a:r>
              <a:rPr sz="1200" i="0">
                <a:solidFill>
                  <a:srgbClr val="5F6368"/>
                </a:solidFill>
                <a:latin typeface="Google Sans Flex"/>
              </a:rPr>
              <a:t>(the trust boundary)</a:t>
            </a:r>
          </a:p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Graph tools compute paths, windows, sums, rule flags and contrasts, so every number is deterministic.</a:t>
            </a:r>
          </a:p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Gemini (gemini-3.5-flash, structured JSON) writes the brief from that evidence only, with no free-form queries and no generated code.</a:t>
            </a:r>
          </a:p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The validator rejects any brief that cites an unknown ID, states a figure not in the tool output, or uses accusatory wording. It regenerates once, then shows a readable error instead of the brief.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(optional): the live investigation page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slide2-c1-grap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188720"/>
            <a:ext cx="5417820" cy="36118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97" name="Oval 96"/>
          <p:cNvSpPr/>
          <p:nvPr/>
        </p:nvSpPr>
        <p:spPr>
          <a:xfrm>
            <a:off x="1186891" y="1315135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98" name="Oval 97"/>
          <p:cNvSpPr/>
          <p:nvPr/>
        </p:nvSpPr>
        <p:spPr>
          <a:xfrm>
            <a:off x="1484871" y="2037511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99" name="Oval 98"/>
          <p:cNvSpPr/>
          <p:nvPr/>
        </p:nvSpPr>
        <p:spPr>
          <a:xfrm>
            <a:off x="1782851" y="2633472"/>
            <a:ext cx="274320" cy="2743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100" name="Oval 99"/>
          <p:cNvSpPr/>
          <p:nvPr/>
        </p:nvSpPr>
        <p:spPr>
          <a:xfrm>
            <a:off x="5223167" y="2488996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101" name="Oval 100"/>
          <p:cNvSpPr/>
          <p:nvPr/>
        </p:nvSpPr>
        <p:spPr>
          <a:xfrm>
            <a:off x="1403604" y="4439412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5</a:t>
            </a:r>
          </a:p>
        </p:txBody>
      </p:sp>
      <p:sp>
        <p:nvSpPr>
          <p:cNvPr id="102" name="Oval 101"/>
          <p:cNvSpPr/>
          <p:nvPr/>
        </p:nvSpPr>
        <p:spPr>
          <a:xfrm>
            <a:off x="5897880" y="124358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63640" y="1188720"/>
            <a:ext cx="256032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Case queue</a:t>
            </a:r>
          </a:p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Synthetic cases, each labelled</a:t>
            </a:r>
          </a:p>
        </p:txBody>
      </p:sp>
      <p:sp>
        <p:nvSpPr>
          <p:cNvPr id="104" name="Oval 103"/>
          <p:cNvSpPr/>
          <p:nvPr/>
        </p:nvSpPr>
        <p:spPr>
          <a:xfrm>
            <a:off x="5897880" y="1975104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63640" y="1920240"/>
            <a:ext cx="256032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Case header</a:t>
            </a:r>
          </a:p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Alert description and scenario</a:t>
            </a:r>
          </a:p>
        </p:txBody>
      </p:sp>
      <p:sp>
        <p:nvSpPr>
          <p:cNvPr id="106" name="Oval 105"/>
          <p:cNvSpPr/>
          <p:nvPr/>
        </p:nvSpPr>
        <p:spPr>
          <a:xfrm>
            <a:off x="5897880" y="2706624"/>
            <a:ext cx="274320" cy="2743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63640" y="2651760"/>
            <a:ext cx="256032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Relationship graph</a:t>
            </a:r>
          </a:p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Accounts (circles), devices (squares), one arrow per transfer</a:t>
            </a:r>
          </a:p>
        </p:txBody>
      </p:sp>
      <p:sp>
        <p:nvSpPr>
          <p:cNvPr id="108" name="Oval 107"/>
          <p:cNvSpPr/>
          <p:nvPr/>
        </p:nvSpPr>
        <p:spPr>
          <a:xfrm>
            <a:off x="5897880" y="343814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63640" y="3383280"/>
            <a:ext cx="256032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Selection panel</a:t>
            </a:r>
          </a:p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Click a node to list every record that touches it</a:t>
            </a:r>
          </a:p>
        </p:txBody>
      </p:sp>
      <p:sp>
        <p:nvSpPr>
          <p:cNvPr id="110" name="Oval 109"/>
          <p:cNvSpPr/>
          <p:nvPr/>
        </p:nvSpPr>
        <p:spPr>
          <a:xfrm>
            <a:off x="5897880" y="4169663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63640" y="4114800"/>
            <a:ext cx="256032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Below the graph</a:t>
            </a:r>
          </a:p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Timeline, AI investigation, brief, citations,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browser"/>
          <p:cNvSpPr/>
          <p:nvPr/>
        </p:nvSpPr>
        <p:spPr>
          <a:xfrm>
            <a:off x="320040" y="1280160"/>
            <a:ext cx="14173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5760" y="1371600"/>
            <a:ext cx="13258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Browser</a:t>
            </a:r>
          </a:p>
          <a:p>
            <a:pPr algn="ctr">
              <a:spcAft>
                <a:spcPts val="4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Analyst or judge, public URL</a:t>
            </a:r>
          </a:p>
        </p:txBody>
      </p:sp>
      <p:sp>
        <p:nvSpPr>
          <p:cNvPr id="106" name="cloud run"/>
          <p:cNvSpPr/>
          <p:nvPr/>
        </p:nvSpPr>
        <p:spPr>
          <a:xfrm>
            <a:off x="2103120" y="1188720"/>
            <a:ext cx="4480560" cy="36118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240280" y="1261872"/>
            <a:ext cx="4206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202124"/>
                </a:solidFill>
                <a:latin typeface="Google Sans Flex SemiBold"/>
              </a:rPr>
              <a:t>Cloud Run · traceguard</a:t>
            </a:r>
          </a:p>
          <a:p>
            <a:pPr algn="l">
              <a:spcAft>
                <a:spcPts val="0"/>
              </a:spcAft>
            </a:pPr>
            <a:r>
              <a:rPr sz="1000" i="0">
                <a:solidFill>
                  <a:srgbClr val="5F6368"/>
                </a:solidFill>
                <a:latin typeface="Google Sans Flex"/>
              </a:rPr>
              <a:t>asia-southeast1 · max 2 instances · runtime SA traceguard-run</a:t>
            </a:r>
          </a:p>
        </p:txBody>
      </p:sp>
      <p:sp>
        <p:nvSpPr>
          <p:cNvPr id="108" name="layer 1"/>
          <p:cNvSpPr/>
          <p:nvPr/>
        </p:nvSpPr>
        <p:spPr>
          <a:xfrm>
            <a:off x="2286000" y="1874519"/>
            <a:ext cx="41148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77440" y="1920239"/>
            <a:ext cx="3931920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202124"/>
                </a:solidFill>
                <a:latin typeface="Google Sans Flex SemiBold"/>
              </a:rPr>
              <a:t>Streamlit app (Python 3.12)</a:t>
            </a:r>
          </a:p>
          <a:p>
            <a:pPr algn="l">
              <a:spcAft>
                <a:spcPts val="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Case queue · graph · timeline · brief · export</a:t>
            </a:r>
          </a:p>
        </p:txBody>
      </p:sp>
      <p:sp>
        <p:nvSpPr>
          <p:cNvPr id="110" name="layer 2"/>
          <p:cNvSpPr/>
          <p:nvPr/>
        </p:nvSpPr>
        <p:spPr>
          <a:xfrm>
            <a:off x="2286000" y="2587752"/>
            <a:ext cx="41148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377440" y="2633472"/>
            <a:ext cx="3931920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202124"/>
                </a:solidFill>
                <a:latin typeface="Google Sans Flex SemiBold"/>
              </a:rPr>
              <a:t>Graph layer: NetworkX MultiDiGraph</a:t>
            </a:r>
          </a:p>
          <a:p>
            <a:pPr algn="l">
              <a:spcAft>
                <a:spcPts val="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5 read-only tools · rule flags · contrasts (ADR-003)</a:t>
            </a:r>
          </a:p>
        </p:txBody>
      </p:sp>
      <p:sp>
        <p:nvSpPr>
          <p:cNvPr id="112" name="layer 3"/>
          <p:cNvSpPr/>
          <p:nvPr/>
        </p:nvSpPr>
        <p:spPr>
          <a:xfrm>
            <a:off x="2286000" y="3300984"/>
            <a:ext cx="41148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377440" y="3346703"/>
            <a:ext cx="3931920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202124"/>
                </a:solidFill>
                <a:latin typeface="Google Sans Flex SemiBold"/>
              </a:rPr>
              <a:t>AI layer</a:t>
            </a:r>
          </a:p>
          <a:p>
            <a:pPr algn="l">
              <a:spcAft>
                <a:spcPts val="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Fixed retrieval → Gemini JSON brief → citation, figure and wording validation</a:t>
            </a:r>
          </a:p>
        </p:txBody>
      </p:sp>
      <p:sp>
        <p:nvSpPr>
          <p:cNvPr id="114" name="layer 4"/>
          <p:cNvSpPr/>
          <p:nvPr/>
        </p:nvSpPr>
        <p:spPr>
          <a:xfrm>
            <a:off x="2286000" y="4014215"/>
            <a:ext cx="41148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377440" y="4059935"/>
            <a:ext cx="3931920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202124"/>
                </a:solidFill>
                <a:latin typeface="Google Sans Flex SemiBold"/>
              </a:rPr>
              <a:t>Synthetic dataset</a:t>
            </a:r>
          </a:p>
          <a:p>
            <a:pPr algn="l">
              <a:spcAft>
                <a:spcPts val="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Seeded, bundled in the image · no database</a:t>
            </a:r>
          </a:p>
        </p:txBody>
      </p:sp>
      <p:sp>
        <p:nvSpPr>
          <p:cNvPr id="116" name="vertex ai"/>
          <p:cNvSpPr/>
          <p:nvPr/>
        </p:nvSpPr>
        <p:spPr>
          <a:xfrm>
            <a:off x="6949440" y="128016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995160" y="1353312"/>
            <a:ext cx="178308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Gemini on Vertex AI</a:t>
            </a:r>
          </a:p>
          <a:p>
            <a:pPr algn="ctr">
              <a:spcAft>
                <a:spcPts val="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gemini-3.5-flash</a:t>
            </a:r>
          </a:p>
          <a:p>
            <a:pPr algn="ctr">
              <a:spcAft>
                <a:spcPts val="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asia-southeast1</a:t>
            </a:r>
          </a:p>
          <a:p>
            <a:pPr algn="ctr">
              <a:spcAft>
                <a:spcPts val="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google-genai SDK</a:t>
            </a:r>
          </a:p>
          <a:p>
            <a:pPr algn="ctr">
              <a:spcAft>
                <a:spcPts val="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structured JSON output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1737360" y="1828800"/>
            <a:ext cx="365760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583680" y="1965960"/>
            <a:ext cx="365760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537960" y="205740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i="0">
                <a:solidFill>
                  <a:srgbClr val="5F6368"/>
                </a:solidFill>
                <a:latin typeface="Google Sans Flex"/>
              </a:rPr>
              <a:t>ADC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949440" y="2880360"/>
            <a:ext cx="1874519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Security and cost</a:t>
            </a:r>
          </a:p>
          <a:p>
            <a:pPr algn="l">
              <a:spcAft>
                <a:spcPts val="2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No API keys: Application Default Credentials only</a:t>
            </a:r>
          </a:p>
          <a:p>
            <a:pPr algn="l">
              <a:spcAft>
                <a:spcPts val="2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Runtime SA: aiplatform.user only</a:t>
            </a:r>
          </a:p>
          <a:p>
            <a:pPr algn="l">
              <a:spcAft>
                <a:spcPts val="2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Build SA: run.builder only · no Editor role in the project</a:t>
            </a:r>
          </a:p>
          <a:p>
            <a:pPr algn="l">
              <a:spcAft>
                <a:spcPts val="2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Max instances plus per-call caps (30 s, 4 tool rounds)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320040" y="1188720"/>
          <a:ext cx="8503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3520440"/>
                <a:gridCol w="3840480"/>
              </a:tblGrid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Google Sans Flex SemiBold"/>
                        </a:rPr>
                        <a:t>Layer</a:t>
                      </a:r>
                    </a:p>
                  </a:txBody>
                  <a:tcPr marL="73152" marR="73152" marT="36576" marB="36576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Google Sans Flex SemiBold"/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Google Sans Flex SemiBold"/>
                        </a:rPr>
                        <a:t>Why</a:t>
                      </a:r>
                    </a:p>
                  </a:txBody>
                  <a:tcPr marL="73152" marR="73152" marT="36576" marB="36576" anchor="ctr">
                    <a:solidFill>
                      <a:srgbClr val="1A73E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Gemini 3.5 Flash on Vertex AI · google-genai 2.31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Structured JSON briefs; LOW thinking keeps a brief to 5–8 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Hosting</a:t>
                      </a:r>
                    </a:p>
                  </a:txBody>
                  <a:tcPr marL="73152" marR="73152" marT="36576" marB="36576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Cloud Run (source deploy, Dockerfile)</a:t>
                      </a:r>
                    </a:p>
                  </a:txBody>
                  <a:tcPr marL="73152" marR="73152" marT="36576" marB="36576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One public service; scales to zero; max 2 instances</a:t>
                      </a:r>
                    </a:p>
                  </a:txBody>
                  <a:tcPr marL="73152" marR="73152" marT="36576" marB="36576" anchor="ctr">
                    <a:solidFill>
                      <a:srgbClr val="F1F3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Build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Cloud Build · Artifact Registry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Least-privilege build service account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Graph</a:t>
                      </a:r>
                    </a:p>
                  </a:txBody>
                  <a:tcPr marL="73152" marR="73152" marT="36576" marB="36576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NetworkX 3.7 (MultiDiGraph)</a:t>
                      </a:r>
                    </a:p>
                  </a:txBody>
                  <a:tcPr marL="73152" marR="73152" marT="36576" marB="36576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Repeated transfers stay separate; time-ordered traces</a:t>
                      </a:r>
                    </a:p>
                  </a:txBody>
                  <a:tcPr marL="73152" marR="73152" marT="36576" marB="36576" anchor="ctr">
                    <a:solidFill>
                      <a:srgbClr val="F1F3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UI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Streamlit 1.66 · streamlit-agraph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Interactive graph; click a node to see its evidence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Validation</a:t>
                      </a:r>
                    </a:p>
                  </a:txBody>
                  <a:tcPr marL="73152" marR="73152" marT="36576" marB="36576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Pydantic 2 schema · custom validators</a:t>
                      </a:r>
                    </a:p>
                  </a:txBody>
                  <a:tcPr marL="73152" marR="73152" marT="36576" marB="36576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Citation, figure and wording checks before display</a:t>
                      </a:r>
                    </a:p>
                  </a:txBody>
                  <a:tcPr marL="73152" marR="73152" marT="36576" marB="36576" anchor="ctr">
                    <a:solidFill>
                      <a:srgbClr val="F1F3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Quality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pytest (156 tests) · mypy strict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Fixture outcomes, boundaries, errors, honesty rules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i="0">
                <a:solidFill>
                  <a:srgbClr val="5F6368"/>
                </a:solidFill>
                <a:latin typeface="Google Sans Flex"/>
              </a:rPr>
              <a:t>Two of the theme's suggested Google Cloud technologies (Gemini on Vertex AI, Cloud Run); BigQuery is the scale-up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We have not published a cost figure: we would rather show the drivers and the caps than guess a number.</a:t>
            </a:r>
          </a:p>
        </p:txBody>
      </p:sp>
      <p:sp>
        <p:nvSpPr>
          <p:cNvPr id="121" name="cost driver 1"/>
          <p:cNvSpPr/>
          <p:nvPr/>
        </p:nvSpPr>
        <p:spPr>
          <a:xfrm>
            <a:off x="320040" y="1828800"/>
            <a:ext cx="2724912" cy="16002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57200" y="1965960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0392" y="1965960"/>
            <a:ext cx="21031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i="0">
                <a:solidFill>
                  <a:srgbClr val="202124"/>
                </a:solidFill>
                <a:latin typeface="Google Sans Flex SemiBold"/>
              </a:rPr>
              <a:t>Cloud Run</a:t>
            </a:r>
          </a:p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Pay per request time; scales to zero when idle; capped at 2 instances.</a:t>
            </a:r>
          </a:p>
        </p:txBody>
      </p:sp>
      <p:sp>
        <p:nvSpPr>
          <p:cNvPr id="124" name="cost driver 2"/>
          <p:cNvSpPr/>
          <p:nvPr/>
        </p:nvSpPr>
        <p:spPr>
          <a:xfrm>
            <a:off x="3182112" y="1828800"/>
            <a:ext cx="2724912" cy="16002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319272" y="1965960"/>
            <a:ext cx="310896" cy="3108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712463" y="1965960"/>
            <a:ext cx="21031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i="0">
                <a:solidFill>
                  <a:srgbClr val="202124"/>
                </a:solidFill>
                <a:latin typeface="Google Sans Flex SemiBold"/>
              </a:rPr>
              <a:t>Gemini 3.5 Flash</a:t>
            </a:r>
          </a:p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One call per investigation (two at most, with one regeneration). Evidence payload capped at 60,000 characters.</a:t>
            </a:r>
          </a:p>
        </p:txBody>
      </p:sp>
      <p:sp>
        <p:nvSpPr>
          <p:cNvPr id="127" name="cost driver 3"/>
          <p:cNvSpPr/>
          <p:nvPr/>
        </p:nvSpPr>
        <p:spPr>
          <a:xfrm>
            <a:off x="6044183" y="1828800"/>
            <a:ext cx="2724912" cy="16002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181344" y="1965960"/>
            <a:ext cx="310896" cy="310896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74536" y="1965960"/>
            <a:ext cx="21031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i="0">
                <a:solidFill>
                  <a:srgbClr val="202124"/>
                </a:solidFill>
                <a:latin typeface="Google Sans Flex SemiBold"/>
              </a:rPr>
              <a:t>Build and storage</a:t>
            </a:r>
          </a:p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Cloud Build per deploy; one container image in Artifact Registry.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0">
                <a:solidFill>
                  <a:srgbClr val="202124"/>
                </a:solidFill>
                <a:latin typeface="Google Sans Flex SemiBold"/>
              </a:rPr>
              <a:t>Controls in place: </a:t>
            </a:r>
            <a:r>
              <a:rPr sz="1100" i="0">
                <a:solidFill>
                  <a:srgbClr val="202124"/>
                </a:solidFill>
                <a:latin typeface="Google Sans Flex"/>
              </a:rPr>
              <a:t>max instances 2; 30 s timeout per call; at most 4 tool rounds and 1 regeneration; budget alerts at 50/90/100%.</a:t>
            </a:r>
          </a:p>
          <a:p>
            <a:pPr algn="l">
              <a:spcAft>
                <a:spcPts val="600"/>
              </a:spcAft>
            </a:pPr>
            <a:r>
              <a:rPr sz="1100" i="0">
                <a:solidFill>
                  <a:srgbClr val="202124"/>
                </a:solidFill>
                <a:latin typeface="Google Sans Flex SemiBold"/>
              </a:rPr>
              <a:t>At bank scale: </a:t>
            </a:r>
            <a:r>
              <a:rPr sz="1100" i="0">
                <a:solidFill>
                  <a:srgbClr val="202124"/>
                </a:solidFill>
                <a:latin typeface="Google Sans Flex"/>
              </a:rPr>
              <a:t>cost would be driven by Gemini calls per analyst case and graph storage (BigQuery or Spanner Graph). Estimate with the bank's case volumes before rollout.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28" name="Picture 127" descr="slide3-brief.png"/>
          <p:cNvPicPr>
            <a:picLocks noChangeAspect="1"/>
          </p:cNvPicPr>
          <p:nvPr/>
        </p:nvPicPr>
        <p:blipFill>
          <a:blip r:embed="rId5"/>
          <a:srcRect l="25500" t="62000" r="5000" b="2000"/>
          <a:stretch>
            <a:fillRect/>
          </a:stretch>
        </p:blipFill>
        <p:spPr>
          <a:xfrm>
            <a:off x="320040" y="1188720"/>
            <a:ext cx="4572000" cy="157882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129" name="Picture 128" descr="slide3-citation-records.png"/>
          <p:cNvPicPr>
            <a:picLocks noChangeAspect="1"/>
          </p:cNvPicPr>
          <p:nvPr/>
        </p:nvPicPr>
        <p:blipFill>
          <a:blip r:embed="rId6"/>
          <a:srcRect l="25500" r="5000" b="55000"/>
          <a:stretch>
            <a:fillRect/>
          </a:stretch>
        </p:blipFill>
        <p:spPr>
          <a:xfrm>
            <a:off x="320040" y="2831548"/>
            <a:ext cx="4572000" cy="1973525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130" name="Picture 129" descr="slide3-graph-highlight.png"/>
          <p:cNvPicPr>
            <a:picLocks noChangeAspect="1"/>
          </p:cNvPicPr>
          <p:nvPr/>
        </p:nvPicPr>
        <p:blipFill>
          <a:blip r:embed="rId7"/>
          <a:srcRect l="32000" t="17000" r="25000" b="17000"/>
          <a:stretch>
            <a:fillRect/>
          </a:stretch>
        </p:blipFill>
        <p:spPr>
          <a:xfrm>
            <a:off x="5257800" y="1188720"/>
            <a:ext cx="3108960" cy="3181261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1" name="TextBox 130"/>
          <p:cNvSpPr txBox="1"/>
          <p:nvPr/>
        </p:nvSpPr>
        <p:spPr>
          <a:xfrm>
            <a:off x="5120640" y="4424845"/>
            <a:ext cx="3703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i="0">
                <a:solidFill>
                  <a:srgbClr val="5F6368"/>
                </a:solidFill>
                <a:latin typeface="Google Sans Flex SemiBold"/>
              </a:rPr>
              <a:t>Left: </a:t>
            </a:r>
            <a:r>
              <a:rPr sz="950" i="0">
                <a:solidFill>
                  <a:srgbClr val="5F6368"/>
                </a:solidFill>
                <a:latin typeface="Google Sans Flex"/>
              </a:rPr>
              <a:t>live brief on real graph evidence: rule flags with thresholds, computed contrasts, then Gemini's counterevidence and unknowns.</a:t>
            </a:r>
          </a:p>
          <a:p>
            <a:pPr algn="l">
              <a:spcAft>
                <a:spcPts val="200"/>
              </a:spcAft>
            </a:pPr>
            <a:r>
              <a:rPr sz="950" i="0">
                <a:solidFill>
                  <a:srgbClr val="5F6368"/>
                </a:solidFill>
                <a:latin typeface="Google Sans Flex SemiBold"/>
              </a:rPr>
              <a:t>Right: </a:t>
            </a:r>
            <a:r>
              <a:rPr sz="950" i="0">
                <a:solidFill>
                  <a:srgbClr val="5F6368"/>
                </a:solidFill>
                <a:latin typeface="Google Sans Flex"/>
              </a:rPr>
              <a:t>clicking RULE-FWD-01 highlights the records it matched (amber).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stat 1"/>
          <p:cNvSpPr/>
          <p:nvPr/>
        </p:nvSpPr>
        <p:spPr>
          <a:xfrm>
            <a:off x="320040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11479" y="121615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i="0">
                <a:solidFill>
                  <a:srgbClr val="1A73E8"/>
                </a:solidFill>
                <a:latin typeface="Google Sans Flex SemiBold"/>
              </a:rPr>
              <a:t>3 / 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1479" y="1755648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i="0">
                <a:solidFill>
                  <a:srgbClr val="5F6368"/>
                </a:solidFill>
                <a:latin typeface="Google Sans Flex"/>
              </a:rPr>
              <a:t>cases reach the expected</a:t>
            </a:r>
          </a:p>
          <a:p>
            <a:pPr algn="ctr">
              <a:spcAft>
                <a:spcPts val="0"/>
              </a:spcAft>
            </a:pPr>
            <a:r>
              <a:rPr sz="950" i="0">
                <a:solidFill>
                  <a:srgbClr val="5F6368"/>
                </a:solidFill>
                <a:latin typeface="Google Sans Flex"/>
              </a:rPr>
              <a:t>conclusion on the live URL</a:t>
            </a:r>
          </a:p>
        </p:txBody>
      </p:sp>
      <p:sp>
        <p:nvSpPr>
          <p:cNvPr id="139" name="stat 2"/>
          <p:cNvSpPr/>
          <p:nvPr/>
        </p:nvSpPr>
        <p:spPr>
          <a:xfrm>
            <a:off x="2468880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560320" y="121615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i="0">
                <a:solidFill>
                  <a:srgbClr val="1A73E8"/>
                </a:solidFill>
                <a:latin typeface="Google Sans Flex SemiBold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560320" y="1755648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i="0">
                <a:solidFill>
                  <a:srgbClr val="5F6368"/>
                </a:solidFill>
                <a:latin typeface="Google Sans Flex"/>
              </a:rPr>
              <a:t>invented citations shown</a:t>
            </a:r>
          </a:p>
          <a:p>
            <a:pPr algn="ctr">
              <a:spcAft>
                <a:spcPts val="0"/>
              </a:spcAft>
            </a:pPr>
            <a:r>
              <a:rPr sz="950" i="0">
                <a:solidFill>
                  <a:srgbClr val="5F6368"/>
                </a:solidFill>
                <a:latin typeface="Google Sans Flex"/>
              </a:rPr>
              <a:t>(blocked by design)</a:t>
            </a:r>
          </a:p>
        </p:txBody>
      </p:sp>
      <p:sp>
        <p:nvSpPr>
          <p:cNvPr id="142" name="stat 3"/>
          <p:cNvSpPr/>
          <p:nvPr/>
        </p:nvSpPr>
        <p:spPr>
          <a:xfrm>
            <a:off x="4617720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09159" y="121615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i="0">
                <a:solidFill>
                  <a:srgbClr val="1A73E8"/>
                </a:solidFill>
                <a:latin typeface="Google Sans Flex SemiBold"/>
              </a:rPr>
              <a:t>5–8 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709159" y="1755648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i="0">
                <a:solidFill>
                  <a:srgbClr val="5F6368"/>
                </a:solidFill>
                <a:latin typeface="Google Sans Flex"/>
              </a:rPr>
              <a:t>live brief, valid on the</a:t>
            </a:r>
          </a:p>
          <a:p>
            <a:pPr algn="ctr">
              <a:spcAft>
                <a:spcPts val="0"/>
              </a:spcAft>
            </a:pPr>
            <a:r>
              <a:rPr sz="950" i="0">
                <a:solidFill>
                  <a:srgbClr val="5F6368"/>
                </a:solidFill>
                <a:latin typeface="Google Sans Flex"/>
              </a:rPr>
              <a:t>first attempt</a:t>
            </a:r>
          </a:p>
        </p:txBody>
      </p:sp>
      <p:sp>
        <p:nvSpPr>
          <p:cNvPr id="145" name="stat 4"/>
          <p:cNvSpPr/>
          <p:nvPr/>
        </p:nvSpPr>
        <p:spPr>
          <a:xfrm>
            <a:off x="6766560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858000" y="121615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i="0">
                <a:solidFill>
                  <a:srgbClr val="1A73E8"/>
                </a:solidFill>
                <a:latin typeface="Google Sans Flex SemiBold"/>
              </a:rPr>
              <a:t>11 / 11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858000" y="1755648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i="0">
                <a:solidFill>
                  <a:srgbClr val="5F6368"/>
                </a:solidFill>
                <a:latin typeface="Google Sans Flex"/>
              </a:rPr>
              <a:t>graph-tool checks match</a:t>
            </a:r>
          </a:p>
          <a:p>
            <a:pPr algn="ctr">
              <a:spcAft>
                <a:spcPts val="0"/>
              </a:spcAft>
            </a:pPr>
            <a:r>
              <a:rPr sz="950" i="0">
                <a:solidFill>
                  <a:srgbClr val="5F6368"/>
                </a:solidFill>
                <a:latin typeface="Google Sans Flex"/>
              </a:rPr>
              <a:t>expected outcomes</a:t>
            </a:r>
          </a:p>
        </p:txBody>
      </p:sp>
      <p:graphicFrame>
        <p:nvGraphicFramePr>
          <p:cNvPr id="148" name="Table 147"/>
          <p:cNvGraphicFramePr>
            <a:graphicFrameLocks noGrp="1"/>
          </p:cNvGraphicFramePr>
          <p:nvPr/>
        </p:nvGraphicFramePr>
        <p:xfrm>
          <a:off x="320040" y="2514600"/>
          <a:ext cx="85039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737360"/>
                <a:gridCol w="1783080"/>
                <a:gridCol w="4434840"/>
              </a:tblGrid>
              <a:tr h="4000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Case</a:t>
                      </a:r>
                    </a:p>
                  </a:txBody>
                  <a:tcPr marL="64008" marR="64008" marT="27432" marB="27432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Pattern</a:t>
                      </a:r>
                    </a:p>
                  </a:txBody>
                  <a:tcPr marL="64008" marR="64008" marT="27432" marB="27432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Expected</a:t>
                      </a:r>
                    </a:p>
                  </a:txBody>
                  <a:tcPr marL="64008" marR="64008" marT="27432" marB="27432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Live result (Gemini 3.5 Flash, real graph evidence)</a:t>
                      </a:r>
                    </a:p>
                  </a:txBody>
                  <a:tcPr marL="64008" marR="64008" marT="27432" marB="27432" anchor="ctr">
                    <a:solidFill>
                      <a:srgbClr val="1A73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C-1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Convergence &amp; forwarding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Pattern warrants review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Both rules flag; brief cites 4 senders, ratio 0.91, 30 min; counterevidence names A-02/A-04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C-2</a:t>
                      </a:r>
                    </a:p>
                  </a:txBody>
                  <a:tcPr marL="64008" marR="64008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Benign shared device</a:t>
                      </a:r>
                    </a:p>
                  </a:txBody>
                  <a:tcPr marL="64008" marR="64008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Insufficient evidence</a:t>
                      </a:r>
                    </a:p>
                  </a:txBody>
                  <a:tcPr marL="64008" marR="64008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No rule matches; device D-04 shown as an observation, not as proof</a:t>
                      </a:r>
                    </a:p>
                  </a:txBody>
                  <a:tcPr marL="64008" marR="64008" marT="27432" marB="27432" anchor="ctr">
                    <a:solidFill>
                      <a:srgbClr val="F1F3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 SemiBold"/>
                        </a:rPr>
                        <a:t>C-3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Incomplete evidence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Unknown past the boundary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02124"/>
                          </a:solidFill>
                          <a:latin typeface="Google Sans Flex"/>
                        </a:rPr>
                        <a:t>Next recipient after A-22 stated as unknown; nothing guessed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" name="TextBox 148"/>
          <p:cNvSpPr txBox="1"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i="0">
                <a:solidFill>
                  <a:srgbClr val="5F6368"/>
                </a:solidFill>
                <a:latin typeface="Google Sans Flex SemiBold"/>
              </a:rPr>
              <a:t>Latency fix, measured: </a:t>
            </a:r>
            <a:r>
              <a:rPr sz="950" i="0">
                <a:solidFill>
                  <a:srgbClr val="5F6368"/>
                </a:solidFill>
                <a:latin typeface="Google Sans Flex"/>
              </a:rPr>
              <a:t>default thinking 20–28 s per brief (one 504 at the 30 s cap) → LOW thinking 3–9 s, all valid. 156 automated tests; mypy strict. </a:t>
            </a:r>
            <a:r>
              <a:rPr sz="950" i="1">
                <a:solidFill>
                  <a:srgbClr val="5F6368"/>
                </a:solidFill>
                <a:latin typeface="Google Sans Flex"/>
              </a:rPr>
              <a:t>No production accuracy or time-saved claims: the data is synthetic.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future 1"/>
          <p:cNvSpPr/>
          <p:nvPr/>
        </p:nvSpPr>
        <p:spPr>
          <a:xfrm>
            <a:off x="320040" y="1188720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457200" y="1325880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68680" y="1307592"/>
            <a:ext cx="352044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i="0">
                <a:solidFill>
                  <a:srgbClr val="202124"/>
                </a:solidFill>
                <a:latin typeface="Google Sans Flex SemiBold"/>
              </a:rPr>
              <a:t>Scale</a:t>
            </a:r>
          </a:p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Spanner Graph or BigQuery for bank-scale transaction graphs, replacing in-memory NetworkX.</a:t>
            </a:r>
          </a:p>
        </p:txBody>
      </p:sp>
      <p:sp>
        <p:nvSpPr>
          <p:cNvPr id="147" name="future 2"/>
          <p:cNvSpPr/>
          <p:nvPr/>
        </p:nvSpPr>
        <p:spPr>
          <a:xfrm>
            <a:off x="4617720" y="1188720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754880" y="1325880"/>
            <a:ext cx="310896" cy="3108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166359" y="1307592"/>
            <a:ext cx="352044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i="0">
                <a:solidFill>
                  <a:srgbClr val="202124"/>
                </a:solidFill>
                <a:latin typeface="Google Sans Flex SemiBold"/>
              </a:rPr>
              <a:t>Access and audit</a:t>
            </a:r>
          </a:p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Analyst sign-in, case-level access controls, and an audit log of every brief and citation click.</a:t>
            </a:r>
          </a:p>
        </p:txBody>
      </p:sp>
      <p:sp>
        <p:nvSpPr>
          <p:cNvPr id="150" name="future 3"/>
          <p:cNvSpPr/>
          <p:nvPr/>
        </p:nvSpPr>
        <p:spPr>
          <a:xfrm>
            <a:off x="320040" y="2651760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57200" y="2788920"/>
            <a:ext cx="310896" cy="310896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" y="2770632"/>
            <a:ext cx="352044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i="0">
                <a:solidFill>
                  <a:srgbClr val="202124"/>
                </a:solidFill>
                <a:latin typeface="Google Sans Flex SemiBold"/>
              </a:rPr>
              <a:t>Validation</a:t>
            </a:r>
          </a:p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Back-test on the bank's labelled historical alerts, under its governance. Track analyst agreement before any accuracy claim.</a:t>
            </a:r>
          </a:p>
        </p:txBody>
      </p:sp>
      <p:sp>
        <p:nvSpPr>
          <p:cNvPr id="153" name="future 4"/>
          <p:cNvSpPr/>
          <p:nvPr/>
        </p:nvSpPr>
        <p:spPr>
          <a:xfrm>
            <a:off x="4617720" y="2651760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754880" y="2788920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166359" y="2770632"/>
            <a:ext cx="352044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i="0">
                <a:solidFill>
                  <a:srgbClr val="202124"/>
                </a:solidFill>
                <a:latin typeface="Google Sans Flex SemiBold"/>
              </a:rPr>
              <a:t>More patterns</a:t>
            </a:r>
          </a:p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Cycle detection and CSV import (cut from this build); a case-scoped follow-up question with the same citation rules.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20040" y="4206240"/>
            <a:ext cx="8503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i="0">
                <a:solidFill>
                  <a:srgbClr val="5F6368"/>
                </a:solidFill>
                <a:latin typeface="Google Sans Flex SemiBold"/>
              </a:rPr>
              <a:t>Human-led: </a:t>
            </a:r>
            <a:r>
              <a:rPr sz="1100" i="0">
                <a:solidFill>
                  <a:srgbClr val="5F6368"/>
                </a:solidFill>
                <a:latin typeface="Google Sans Flex"/>
              </a:rPr>
              <a:t>the analyst always decides. TraceGuard prepares the evidence and the brief.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link 1"/>
          <p:cNvSpPr/>
          <p:nvPr/>
        </p:nvSpPr>
        <p:spPr>
          <a:xfrm>
            <a:off x="320040" y="1234440"/>
            <a:ext cx="8503920" cy="8686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75488" y="1508760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14400" y="1325880"/>
            <a:ext cx="7772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i="0">
                <a:solidFill>
                  <a:srgbClr val="202124"/>
                </a:solidFill>
                <a:latin typeface="Google Sans Flex SemiBold"/>
              </a:rPr>
              <a:t>GitHub Public Repository</a:t>
            </a:r>
          </a:p>
          <a:p>
            <a:pPr algn="l">
              <a:spcAft>
                <a:spcPts val="200"/>
              </a:spcAft>
            </a:pPr>
            <a:r>
              <a:rPr sz="1200" i="0">
                <a:solidFill>
                  <a:srgbClr val="1A73E8"/>
                </a:solidFill>
                <a:latin typeface="Google Sans Flex"/>
                <a:hlinkClick r:id="rId5"/>
              </a:rPr>
              <a:t>https://github.com/shieryl-ryle/traceguard</a:t>
            </a:r>
          </a:p>
        </p:txBody>
      </p:sp>
      <p:sp>
        <p:nvSpPr>
          <p:cNvPr id="155" name="link 2"/>
          <p:cNvSpPr/>
          <p:nvPr/>
        </p:nvSpPr>
        <p:spPr>
          <a:xfrm>
            <a:off x="320040" y="2258568"/>
            <a:ext cx="8503920" cy="8686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75488" y="2532888"/>
            <a:ext cx="310896" cy="3108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2350008"/>
            <a:ext cx="7772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i="0">
                <a:solidFill>
                  <a:srgbClr val="202124"/>
                </a:solidFill>
                <a:latin typeface="Google Sans Flex SemiBold"/>
              </a:rPr>
              <a:t>Demo Video Link (3 Minutes)</a:t>
            </a:r>
          </a:p>
          <a:p>
            <a:pPr algn="l">
              <a:spcAft>
                <a:spcPts val="200"/>
              </a:spcAft>
            </a:pPr>
            <a:r>
              <a:rPr sz="1200" i="0">
                <a:solidFill>
                  <a:srgbClr val="1A73E8"/>
                </a:solidFill>
                <a:latin typeface="Google Sans Flex"/>
              </a:rPr>
              <a:t>ADD-VIDEO-LINK-BEFORE-SUBMITTING</a:t>
            </a:r>
          </a:p>
        </p:txBody>
      </p:sp>
      <p:sp>
        <p:nvSpPr>
          <p:cNvPr id="158" name="link 3"/>
          <p:cNvSpPr/>
          <p:nvPr/>
        </p:nvSpPr>
        <p:spPr>
          <a:xfrm>
            <a:off x="320040" y="3282696"/>
            <a:ext cx="8503920" cy="8686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475488" y="3557016"/>
            <a:ext cx="310896" cy="310896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4400" y="3374136"/>
            <a:ext cx="7772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i="0">
                <a:solidFill>
                  <a:srgbClr val="202124"/>
                </a:solidFill>
                <a:latin typeface="Google Sans Flex SemiBold"/>
              </a:rPr>
              <a:t>Final Product Link</a:t>
            </a:r>
          </a:p>
          <a:p>
            <a:pPr algn="l">
              <a:spcAft>
                <a:spcPts val="200"/>
              </a:spcAft>
            </a:pPr>
            <a:r>
              <a:rPr sz="1200" i="0">
                <a:solidFill>
                  <a:srgbClr val="1A73E8"/>
                </a:solidFill>
                <a:latin typeface="Google Sans Flex"/>
                <a:hlinkClick r:id="rId6"/>
              </a:rPr>
              <a:t>https://traceguard-343683630064.asia-southeast1.run.app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20040" y="4343400"/>
            <a:ext cx="8503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i="0">
                <a:solidFill>
                  <a:srgbClr val="5F6368"/>
                </a:solidFill>
                <a:latin typeface="Google Sans Flex"/>
              </a:rPr>
              <a:t>Live app runs C-1, C-2 and C-3 end to end, including a real Gemini call. No sign-in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Limitations and responsible AI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9" name="limits 1"/>
          <p:cNvSpPr/>
          <p:nvPr/>
        </p:nvSpPr>
        <p:spPr>
          <a:xfrm>
            <a:off x="320040" y="1188720"/>
            <a:ext cx="4160520" cy="3383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57200" y="1325880"/>
            <a:ext cx="310896" cy="310896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!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68680" y="1344168"/>
            <a:ext cx="34747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0">
                <a:solidFill>
                  <a:srgbClr val="202124"/>
                </a:solidFill>
                <a:latin typeface="Google Sans Flex SemiBold"/>
              </a:rPr>
              <a:t>Limitations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1783080"/>
            <a:ext cx="388620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Synthetic data only: 35 accounts, 102 transfers, one currency (PHP).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No measured accuracy or time saved yet.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Fixed workflow: the model does not choose tools (stated plainly, not as autonomy).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No authentication in the prototype.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Model wording varies between runs; the validator rejects bad output rather than preventing it.</a:t>
            </a:r>
          </a:p>
        </p:txBody>
      </p:sp>
      <p:sp>
        <p:nvSpPr>
          <p:cNvPr id="163" name="limits 2"/>
          <p:cNvSpPr/>
          <p:nvPr/>
        </p:nvSpPr>
        <p:spPr>
          <a:xfrm>
            <a:off x="4617720" y="1188720"/>
            <a:ext cx="4160520" cy="3383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754880" y="1325880"/>
            <a:ext cx="310896" cy="3108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Google Sans Flex SemiBold"/>
              </a:rPr>
              <a:t>✓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166359" y="1344168"/>
            <a:ext cx="34747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0">
                <a:solidFill>
                  <a:srgbClr val="202124"/>
                </a:solidFill>
                <a:latin typeface="Google Sans Flex SemiBold"/>
              </a:rPr>
              <a:t>Safeguards built in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754880" y="1783080"/>
            <a:ext cx="388620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Synthetic data only; no employer or customer data (BR-001).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Every cited ID must exist in retrieved evidence (BR-002).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Numbers and flags from code, not the model (BR-003).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No accusations, probabilities or risk scores (BR-004).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Unknowns stated; similar amounts are never called the same money (BR-005).</a:t>
            </a:r>
          </a:p>
          <a:p>
            <a:pPr algn="l" marL="164592" indent="-146304">
              <a:spcAft>
                <a:spcPts val="600"/>
              </a:spcAft>
              <a:buChar char="•"/>
            </a:pPr>
            <a:r>
              <a:rPr sz="1200" i="0">
                <a:solidFill>
                  <a:srgbClr val="202124"/>
                </a:solidFill>
                <a:latin typeface="Google Sans Flex"/>
              </a:rPr>
              <a:t>Live vs cached output always labelled (BR-006).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