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github.com/shieryl-ryle/traceguard" TargetMode="External"/><Relationship Id="rId6" Type="http://schemas.openxmlformats.org/officeDocument/2006/relationships/hyperlink" Target="https://traceguard-343683630064.asia-southeast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Chilli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Shieryl Tendilla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– Intelligent Risk, Fraud &amp; Financial Experiences. Fraud analysts reviewing one alert can't see the connected fund movements behind it, or prove them.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65760" y="1188720"/>
            <a:ext cx="5029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i="0">
                <a:solidFill>
                  <a:srgbClr val="1A73E8"/>
                </a:solidFill>
                <a:latin typeface="Google Sans Flex SemiBold"/>
              </a:rPr>
              <a:t>TraceGuard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A graph-powered AI investigation assistant for fraud operations analysts at banks, e-wallets and fintechs.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It traces suspicious fund movements across accounts and devices, then writes an evidence-linked case brief with Gemini on Vertex AI, where every claim is cited to a real transaction or rule result.</a:t>
            </a:r>
          </a:p>
        </p:txBody>
      </p:sp>
      <p:sp>
        <p:nvSpPr>
          <p:cNvPr id="65" name="pillar 1"/>
          <p:cNvSpPr/>
          <p:nvPr/>
        </p:nvSpPr>
        <p:spPr>
          <a:xfrm>
            <a:off x="5623560" y="1234440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760720" y="135331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1307592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Graph evidence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Paths, time windows, sums and rule flags computed by code, never by the model.</a:t>
            </a:r>
          </a:p>
        </p:txBody>
      </p:sp>
      <p:sp>
        <p:nvSpPr>
          <p:cNvPr id="68" name="pillar 2"/>
          <p:cNvSpPr/>
          <p:nvPr/>
        </p:nvSpPr>
        <p:spPr>
          <a:xfrm>
            <a:off x="5623560" y="2258568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760720" y="237744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2331720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Cited AI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 and unknowns. Every ID is validated before display.</a:t>
            </a:r>
          </a:p>
        </p:txBody>
      </p:sp>
      <p:sp>
        <p:nvSpPr>
          <p:cNvPr id="71" name="pillar 3"/>
          <p:cNvSpPr/>
          <p:nvPr/>
        </p:nvSpPr>
        <p:spPr>
          <a:xfrm>
            <a:off x="5623560" y="3282696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60720" y="3401568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72200" y="3355848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Honest by design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"Pattern warrants review", never "guilty". It says what the data can't show.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4206240"/>
            <a:ext cx="5029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 SemiBold"/>
              </a:rPr>
              <a:t>Investigation aid only: </a:t>
            </a:r>
            <a:r>
              <a:rPr sz="1050" i="0">
                <a:solidFill>
                  <a:srgbClr val="5F6368"/>
                </a:solidFill>
                <a:latin typeface="Google Sans Flex"/>
              </a:rPr>
              <a:t>it does not block transfers, declare guilt, file regulatory reports or give a risk score. All data is synthetic.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72" name="opportunity 1"/>
          <p:cNvSpPr/>
          <p:nvPr/>
        </p:nvSpPr>
        <p:spPr>
          <a:xfrm>
            <a:off x="320040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differs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Shows connections, not single transactions: a time-ordered money trail across accounts and devices.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Separates duties: deterministic graph tools decide; Gemini only explains.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Refuses to guess: unknowns past the data boundary are stated, not filled in.</a:t>
            </a:r>
          </a:p>
        </p:txBody>
      </p:sp>
      <p:sp>
        <p:nvSpPr>
          <p:cNvPr id="76" name="opportunity 2"/>
          <p:cNvSpPr/>
          <p:nvPr/>
        </p:nvSpPr>
        <p:spPr>
          <a:xfrm>
            <a:off x="3182112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19272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12463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9272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Retrieves the connected evidence for an alert in one click.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Turns it into a brief with observations, counterevidence, unknowns and next checks.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Each citation highlights its record on the graph and timeline, so it can be checked in place.</a:t>
            </a:r>
          </a:p>
        </p:txBody>
      </p:sp>
      <p:sp>
        <p:nvSpPr>
          <p:cNvPr id="80" name="opportunity 3"/>
          <p:cNvSpPr/>
          <p:nvPr/>
        </p:nvSpPr>
        <p:spPr>
          <a:xfrm>
            <a:off x="6044183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81344" y="132588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74536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USP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81344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and figure is validated against tool output, and the checks are shown on screen ("Verified before display"). A failing brief is regenerated once, then blocked.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Counterevidence is computed, not invented (e.g. senders not on the shared device).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Careful language enforced in code: no accusations, probabilities or risk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feature 1"/>
          <p:cNvSpPr/>
          <p:nvPr/>
        </p:nvSpPr>
        <p:spPr>
          <a:xfrm>
            <a:off x="320040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8912" y="1316736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8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3 synthetic alert cases, clearly labelled "synthetic data"</a:t>
            </a:r>
          </a:p>
        </p:txBody>
      </p:sp>
      <p:sp>
        <p:nvSpPr>
          <p:cNvPr id="83" name="feature 2"/>
          <p:cNvSpPr/>
          <p:nvPr/>
        </p:nvSpPr>
        <p:spPr>
          <a:xfrm>
            <a:off x="3182112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300984" y="1316736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Timeline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Each case's transfers in time order; select rows to highlight them</a:t>
            </a:r>
          </a:p>
        </p:txBody>
      </p:sp>
      <p:sp>
        <p:nvSpPr>
          <p:cNvPr id="86" name="feature 3"/>
          <p:cNvSpPr/>
          <p:nvPr/>
        </p:nvSpPr>
        <p:spPr>
          <a:xfrm>
            <a:off x="6044183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63055" y="1316736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19671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and devices; one arrow per transfer, so repeats never merge</a:t>
            </a:r>
          </a:p>
        </p:txBody>
      </p:sp>
      <p:sp>
        <p:nvSpPr>
          <p:cNvPr id="89" name="feature 4"/>
          <p:cNvSpPr/>
          <p:nvPr/>
        </p:nvSpPr>
        <p:spPr>
          <a:xfrm>
            <a:off x="320040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38912" y="253288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8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5 deterministic tools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 context, fund trace, shared devices, rapid forwarding, fan-in</a:t>
            </a:r>
          </a:p>
        </p:txBody>
      </p:sp>
      <p:sp>
        <p:nvSpPr>
          <p:cNvPr id="92" name="feature 5"/>
          <p:cNvSpPr/>
          <p:nvPr/>
        </p:nvSpPr>
        <p:spPr>
          <a:xfrm>
            <a:off x="3182112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00984" y="2532888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57600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on Vertex AI over retrieved evidence, with a visible tool log</a:t>
            </a:r>
          </a:p>
        </p:txBody>
      </p:sp>
      <p:sp>
        <p:nvSpPr>
          <p:cNvPr id="95" name="feature 6"/>
          <p:cNvSpPr/>
          <p:nvPr/>
        </p:nvSpPr>
        <p:spPr>
          <a:xfrm>
            <a:off x="6044183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63055" y="2532888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1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Evidence-linked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counterevidence, unknowns, suggested checks</a:t>
            </a:r>
          </a:p>
        </p:txBody>
      </p:sp>
      <p:sp>
        <p:nvSpPr>
          <p:cNvPr id="98" name="feature 7"/>
          <p:cNvSpPr/>
          <p:nvPr/>
        </p:nvSpPr>
        <p:spPr>
          <a:xfrm>
            <a:off x="320040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8912" y="3749039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5528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Citations and export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Click an evidence ID to highlight it on the graph; export the brief as Markdown</a:t>
            </a:r>
          </a:p>
        </p:txBody>
      </p:sp>
      <p:sp>
        <p:nvSpPr>
          <p:cNvPr id="101" name="feature 8"/>
          <p:cNvSpPr/>
          <p:nvPr/>
        </p:nvSpPr>
        <p:spPr>
          <a:xfrm>
            <a:off x="3182112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00984" y="3749039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600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Follow-up question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Ask about the case; answered from the same evidence, or refused if it can't be</a:t>
            </a:r>
          </a:p>
        </p:txBody>
      </p:sp>
      <p:sp>
        <p:nvSpPr>
          <p:cNvPr id="104" name="feature 9"/>
          <p:cNvSpPr/>
          <p:nvPr/>
        </p:nvSpPr>
        <p:spPr>
          <a:xfrm>
            <a:off x="6044183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63055" y="3749039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19671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Readable errors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Timeout, quota or permission errors explained; graph stays usable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step 1"/>
          <p:cNvSpPr/>
          <p:nvPr/>
        </p:nvSpPr>
        <p:spPr>
          <a:xfrm>
            <a:off x="32004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467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490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Open alert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Pick a case from the queue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618488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step 2"/>
          <p:cNvSpPr/>
          <p:nvPr/>
        </p:nvSpPr>
        <p:spPr>
          <a:xfrm>
            <a:off x="1764791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49424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19655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Inspect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Graph and time-ordered timeline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063239" y="2148840"/>
            <a:ext cx="128017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tep 3"/>
          <p:cNvSpPr/>
          <p:nvPr/>
        </p:nvSpPr>
        <p:spPr>
          <a:xfrm>
            <a:off x="3209544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694176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64408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Run AI investigation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Fixed workflow runs every graph tool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507992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tep 4"/>
          <p:cNvSpPr/>
          <p:nvPr/>
        </p:nvSpPr>
        <p:spPr>
          <a:xfrm>
            <a:off x="4654295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38927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59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Validate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Citations, figures and wording checked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952743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step 5"/>
          <p:cNvSpPr/>
          <p:nvPr/>
        </p:nvSpPr>
        <p:spPr>
          <a:xfrm>
            <a:off x="6099047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83679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3911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Review brief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Click citations to verify each claim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397495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 6"/>
          <p:cNvSpPr/>
          <p:nvPr/>
        </p:nvSpPr>
        <p:spPr>
          <a:xfrm>
            <a:off x="754380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02843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9866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Export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Markdown brief for the case file</a:t>
            </a:r>
          </a:p>
        </p:txBody>
      </p:sp>
      <p:sp>
        <p:nvSpPr>
          <p:cNvPr id="111" name="validation detail"/>
          <p:cNvSpPr/>
          <p:nvPr/>
        </p:nvSpPr>
        <p:spPr>
          <a:xfrm>
            <a:off x="320040" y="3154680"/>
            <a:ext cx="850392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2920" y="3246120"/>
            <a:ext cx="8229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Inside steps 3–4 </a:t>
            </a:r>
            <a:r>
              <a:rPr sz="1200" i="0">
                <a:solidFill>
                  <a:srgbClr val="5F6368"/>
                </a:solidFill>
                <a:latin typeface="Google Sans Flex"/>
              </a:rPr>
              <a:t>(the trust boundary)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Graph tools compute paths, windows, sums, rule flags and contrasts, so every number is deterministic.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(gemini-3.5-flash, structured JSON) writes the brief from that evidence only, with no free-form queries and no generated code.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validator rejects any brief that cites an unknown ID, states a figure not in the tool output, or uses accusatory wording. It regenerates once, then shows a readable error instead of the brief.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(optional): the live investigation page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slide2-c1-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417820" cy="3611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7" name="Oval 96"/>
          <p:cNvSpPr/>
          <p:nvPr/>
        </p:nvSpPr>
        <p:spPr>
          <a:xfrm>
            <a:off x="1186891" y="1315135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1484871" y="2037511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9" name="Oval 98"/>
          <p:cNvSpPr/>
          <p:nvPr/>
        </p:nvSpPr>
        <p:spPr>
          <a:xfrm>
            <a:off x="1728673" y="2886303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3543642" y="2633472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1" name="Oval 100"/>
          <p:cNvSpPr/>
          <p:nvPr/>
        </p:nvSpPr>
        <p:spPr>
          <a:xfrm>
            <a:off x="1403604" y="4439412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2" name="Oval 101"/>
          <p:cNvSpPr/>
          <p:nvPr/>
        </p:nvSpPr>
        <p:spPr>
          <a:xfrm>
            <a:off x="589788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63640" y="118872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Synthetic cases, each labelled</a:t>
            </a:r>
          </a:p>
        </p:txBody>
      </p:sp>
      <p:sp>
        <p:nvSpPr>
          <p:cNvPr id="104" name="Oval 103"/>
          <p:cNvSpPr/>
          <p:nvPr/>
        </p:nvSpPr>
        <p:spPr>
          <a:xfrm>
            <a:off x="5897880" y="1975104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63640" y="192024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header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Alert description and scenario</a:t>
            </a:r>
          </a:p>
        </p:txBody>
      </p:sp>
      <p:sp>
        <p:nvSpPr>
          <p:cNvPr id="106" name="Oval 105"/>
          <p:cNvSpPr/>
          <p:nvPr/>
        </p:nvSpPr>
        <p:spPr>
          <a:xfrm>
            <a:off x="5897880" y="2706624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63640" y="265176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(circles), devices (squares), one arrow per transfer</a:t>
            </a:r>
          </a:p>
        </p:txBody>
      </p:sp>
      <p:sp>
        <p:nvSpPr>
          <p:cNvPr id="108" name="Oval 107"/>
          <p:cNvSpPr/>
          <p:nvPr/>
        </p:nvSpPr>
        <p:spPr>
          <a:xfrm>
            <a:off x="5897880" y="343814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338328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 panel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Brief, Verified panel and follow-up question, scrolling beside the graph</a:t>
            </a:r>
          </a:p>
        </p:txBody>
      </p:sp>
      <p:sp>
        <p:nvSpPr>
          <p:cNvPr id="110" name="Oval 109"/>
          <p:cNvSpPr/>
          <p:nvPr/>
        </p:nvSpPr>
        <p:spPr>
          <a:xfrm>
            <a:off x="5897880" y="4169663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63640" y="411480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Below the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Selection panel for the clicked node, then the full timeline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browser"/>
          <p:cNvSpPr/>
          <p:nvPr/>
        </p:nvSpPr>
        <p:spPr>
          <a:xfrm>
            <a:off x="320040" y="12801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1371600"/>
            <a:ext cx="13258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ctr">
              <a:spcAft>
                <a:spcPts val="4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Analyst or judge, public URL</a:t>
            </a:r>
          </a:p>
        </p:txBody>
      </p:sp>
      <p:sp>
        <p:nvSpPr>
          <p:cNvPr id="106" name="cloud run"/>
          <p:cNvSpPr/>
          <p:nvPr/>
        </p:nvSpPr>
        <p:spPr>
          <a:xfrm>
            <a:off x="2103120" y="1188720"/>
            <a:ext cx="4480560" cy="3611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40280" y="1261872"/>
            <a:ext cx="4206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 · traceguard</a:t>
            </a:r>
          </a:p>
          <a:p>
            <a:pPr algn="l">
              <a:spcAft>
                <a:spcPts val="0"/>
              </a:spcAft>
            </a:pPr>
            <a:r>
              <a:rPr sz="1000" i="0">
                <a:solidFill>
                  <a:srgbClr val="5F6368"/>
                </a:solidFill>
                <a:latin typeface="Google Sans Flex"/>
              </a:rPr>
              <a:t>asia-southeast1 · max 2 instances · runtime SA traceguard-run</a:t>
            </a:r>
          </a:p>
        </p:txBody>
      </p:sp>
      <p:sp>
        <p:nvSpPr>
          <p:cNvPr id="108" name="layer 1"/>
          <p:cNvSpPr/>
          <p:nvPr/>
        </p:nvSpPr>
        <p:spPr>
          <a:xfrm>
            <a:off x="2286000" y="1874519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377440" y="1920239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Streamlit app (Python 3.12)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Case queue · graph · timeline · brief · export</a:t>
            </a:r>
          </a:p>
        </p:txBody>
      </p:sp>
      <p:sp>
        <p:nvSpPr>
          <p:cNvPr id="110" name="layer 2"/>
          <p:cNvSpPr/>
          <p:nvPr/>
        </p:nvSpPr>
        <p:spPr>
          <a:xfrm>
            <a:off x="2286000" y="2587752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77440" y="2633472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Graph layer: NetworkX MultiDiGraph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5 read-only tools · rule flags · contrasts (ADR-003)</a:t>
            </a:r>
          </a:p>
        </p:txBody>
      </p:sp>
      <p:sp>
        <p:nvSpPr>
          <p:cNvPr id="112" name="layer 3"/>
          <p:cNvSpPr/>
          <p:nvPr/>
        </p:nvSpPr>
        <p:spPr>
          <a:xfrm>
            <a:off x="2286000" y="3300984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377440" y="3346703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AI layer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Fixed retrieval → Gemini JSON brief → citation, figure and wording validation</a:t>
            </a:r>
          </a:p>
        </p:txBody>
      </p:sp>
      <p:sp>
        <p:nvSpPr>
          <p:cNvPr id="114" name="layer 4"/>
          <p:cNvSpPr/>
          <p:nvPr/>
        </p:nvSpPr>
        <p:spPr>
          <a:xfrm>
            <a:off x="2286000" y="4014215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377440" y="4059935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Synthetic dataset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Seeded, bundled in the image · no database</a:t>
            </a:r>
          </a:p>
        </p:txBody>
      </p:sp>
      <p:sp>
        <p:nvSpPr>
          <p:cNvPr id="116" name="vertex ai"/>
          <p:cNvSpPr/>
          <p:nvPr/>
        </p:nvSpPr>
        <p:spPr>
          <a:xfrm>
            <a:off x="6949440" y="128016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995160" y="1353312"/>
            <a:ext cx="178308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Gemini on Vertex AI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gemini-3.5-flash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asia-southeast1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google-genai SDK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structured JSON output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737360" y="182880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583680" y="196596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537960" y="205740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i="0">
                <a:solidFill>
                  <a:srgbClr val="5F6368"/>
                </a:solidFill>
                <a:latin typeface="Google Sans Flex"/>
              </a:rPr>
              <a:t>ADC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949440" y="2880360"/>
            <a:ext cx="1874519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Security and cost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API keys: Application Default Credentials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Runtime SA: aiplatform.user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 SA: run.builder only · no Editor role in the project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Max instances plus per-call caps (30 s, 4 tool rounds)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12" name="Table 111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520440"/>
                <a:gridCol w="3840480"/>
              </a:tblGrid>
              <a:tr h="4457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Layer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Technology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Why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Gemini 3.5 Flash on Vertex AI · google-genai 2.31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Structured JSON briefs; LOW thinking keeps a brief to 5–8 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Hosting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Run (source deploy, Dockerfile)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One public service; scales to zero; max 2 instances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Build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Build · Artifact Registry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Least-privilege build service account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Graph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NetworkX 3.7 (MultiDiGraph)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Repeated transfers stay separate; time-ordered traces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Streamlit 1.66 · streamlit-agraph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Interactive graph; click a node to see its evidence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Validation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Pydantic 2 schema · custom validators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Citation, figure and wording checks before display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Quality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pytest (168 tests) · mypy strict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Fixture outcomes, boundaries, errors, honesty rules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Box 112"/>
          <p:cNvSpPr txBox="1"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Two of the theme's suggested Google Cloud technologies (Gemini on Vertex AI, Cloud Run); BigQuery is the scale-up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188720"/>
            <a:ext cx="8412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We have not published a cost figure: we would rather show the drivers and the caps than guess a number.</a:t>
            </a:r>
          </a:p>
        </p:txBody>
      </p:sp>
      <p:sp>
        <p:nvSpPr>
          <p:cNvPr id="121" name="cost driver 1"/>
          <p:cNvSpPr/>
          <p:nvPr/>
        </p:nvSpPr>
        <p:spPr>
          <a:xfrm>
            <a:off x="320040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57200" y="19659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0392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Pay per request time; scales to zero when idle; capped at 2 instances.</a:t>
            </a:r>
          </a:p>
        </p:txBody>
      </p:sp>
      <p:sp>
        <p:nvSpPr>
          <p:cNvPr id="124" name="cost driver 2"/>
          <p:cNvSpPr/>
          <p:nvPr/>
        </p:nvSpPr>
        <p:spPr>
          <a:xfrm>
            <a:off x="3182112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19272" y="196596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712463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Gemini 3.5 Flash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One call per investigation (two at most, with one regeneration). Evidence payload capped at 60,000 characters.</a:t>
            </a:r>
          </a:p>
        </p:txBody>
      </p:sp>
      <p:sp>
        <p:nvSpPr>
          <p:cNvPr id="127" name="cost driver 3"/>
          <p:cNvSpPr/>
          <p:nvPr/>
        </p:nvSpPr>
        <p:spPr>
          <a:xfrm>
            <a:off x="6044183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81344" y="196596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74536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Build and storage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Cloud Build per deploy; one container image in Artifact Registry.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Controls in place: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max instances 2; 30 s timeout per call; at most 4 tool rounds and 1 regeneration; budget alerts at 50/90/100%.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At bank scale: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cost would be driven by Gemini calls per analyst case and graph storage (BigQuery or Spanner Graph). Estimate with the bank's case volumes before rollout.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8" name="Picture 127" descr="slide3-brief.png"/>
          <p:cNvPicPr>
            <a:picLocks noChangeAspect="1"/>
          </p:cNvPicPr>
          <p:nvPr/>
        </p:nvPicPr>
        <p:blipFill>
          <a:blip r:embed="rId5"/>
          <a:srcRect l="25500" t="39000" r="40000"/>
          <a:stretch>
            <a:fillRect/>
          </a:stretch>
        </p:blipFill>
        <p:spPr>
          <a:xfrm>
            <a:off x="320040" y="1188720"/>
            <a:ext cx="2094500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29" name="TextBox 128"/>
          <p:cNvSpPr txBox="1"/>
          <p:nvPr/>
        </p:nvSpPr>
        <p:spPr>
          <a:xfrm>
            <a:off x="320040" y="3730752"/>
            <a:ext cx="20945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Citation click: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records cited by RULE-FWD-01 highlighted on the graph (amber).</a:t>
            </a:r>
          </a:p>
        </p:txBody>
      </p:sp>
      <p:pic>
        <p:nvPicPr>
          <p:cNvPr id="130" name="Picture 129" descr="slide10-verified-panel.png"/>
          <p:cNvPicPr>
            <a:picLocks noChangeAspect="1"/>
          </p:cNvPicPr>
          <p:nvPr/>
        </p:nvPicPr>
        <p:blipFill>
          <a:blip r:embed="rId6"/>
          <a:srcRect r="5000"/>
          <a:stretch>
            <a:fillRect/>
          </a:stretch>
        </p:blipFill>
        <p:spPr>
          <a:xfrm>
            <a:off x="2551700" y="1188720"/>
            <a:ext cx="3479063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1" name="TextBox 130"/>
          <p:cNvSpPr txBox="1"/>
          <p:nvPr/>
        </p:nvSpPr>
        <p:spPr>
          <a:xfrm>
            <a:off x="2551700" y="3730752"/>
            <a:ext cx="3479063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Verified before display: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citations, figures and wording checked, shown beside the brief.</a:t>
            </a:r>
          </a:p>
        </p:txBody>
      </p:sp>
      <p:pic>
        <p:nvPicPr>
          <p:cNvPr id="132" name="Picture 131" descr="slide10-follow-up-refusal.png"/>
          <p:cNvPicPr>
            <a:picLocks noChangeAspect="1"/>
          </p:cNvPicPr>
          <p:nvPr/>
        </p:nvPicPr>
        <p:blipFill>
          <a:blip r:embed="rId7"/>
          <a:srcRect l="63500" t="55000" r="5000"/>
          <a:stretch>
            <a:fillRect/>
          </a:stretch>
        </p:blipFill>
        <p:spPr>
          <a:xfrm>
            <a:off x="6167923" y="1188720"/>
            <a:ext cx="2592324" cy="2468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3" name="TextBox 132"/>
          <p:cNvSpPr txBox="1"/>
          <p:nvPr/>
        </p:nvSpPr>
        <p:spPr>
          <a:xfrm>
            <a:off x="6167923" y="3730752"/>
            <a:ext cx="2592324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i="0">
                <a:solidFill>
                  <a:srgbClr val="5F6368"/>
                </a:solidFill>
                <a:latin typeface="Google Sans Flex SemiBold"/>
              </a:rPr>
              <a:t>Follow-up question: </a:t>
            </a:r>
            <a:r>
              <a:rPr sz="1000" i="0">
                <a:solidFill>
                  <a:srgbClr val="5F6368"/>
                </a:solidFill>
                <a:latin typeface="Google Sans Flex"/>
              </a:rPr>
              <a:t>"Who owns A-22?" is refused: the case data can't answer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stat 1"/>
          <p:cNvSpPr/>
          <p:nvPr/>
        </p:nvSpPr>
        <p:spPr>
          <a:xfrm>
            <a:off x="3200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1147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 / 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7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cases reach the expected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conclusion on the live URL</a:t>
            </a:r>
          </a:p>
        </p:txBody>
      </p:sp>
      <p:sp>
        <p:nvSpPr>
          <p:cNvPr id="139" name="stat 2"/>
          <p:cNvSpPr/>
          <p:nvPr/>
        </p:nvSpPr>
        <p:spPr>
          <a:xfrm>
            <a:off x="24688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6032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invented citations shown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(blocked by design)</a:t>
            </a:r>
          </a:p>
        </p:txBody>
      </p:sp>
      <p:sp>
        <p:nvSpPr>
          <p:cNvPr id="142" name="stat 3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0915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5–8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5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live brief, valid on the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first attempt</a:t>
            </a:r>
          </a:p>
        </p:txBody>
      </p:sp>
      <p:sp>
        <p:nvSpPr>
          <p:cNvPr id="145" name="stat 4"/>
          <p:cNvSpPr/>
          <p:nvPr/>
        </p:nvSpPr>
        <p:spPr>
          <a:xfrm>
            <a:off x="676656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11 / 11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5800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graph-tool checks match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expected outcomes</a:t>
            </a:r>
          </a:p>
        </p:txBody>
      </p:sp>
      <p:graphicFrame>
        <p:nvGraphicFramePr>
          <p:cNvPr id="148" name="Table 147"/>
          <p:cNvGraphicFramePr>
            <a:graphicFrameLocks noGrp="1"/>
          </p:cNvGraphicFramePr>
          <p:nvPr/>
        </p:nvGraphicFramePr>
        <p:xfrm>
          <a:off x="320040" y="2514600"/>
          <a:ext cx="85039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783080"/>
                <a:gridCol w="4434840"/>
              </a:tblGrid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Pattern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Expected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Live result (Gemini 3.5 Flash, real graph evidence)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Convergence &amp; forwarding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Pattern warrants review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Both rules flag; brief cites 4 senders, ratio 0.91, 30 min; counterevidence names A-02/A-04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C-2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Benign shared device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Insufficient evidence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No rule matches; device D-04 shown as an observation, not as proof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Incomplete evidence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Unknown past the boundary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Next recipient after A-22 stated as unknown; nothing guessed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TextBox 148"/>
          <p:cNvSpPr txBox="1"/>
          <p:nvPr/>
        </p:nvSpPr>
        <p:spPr>
          <a:xfrm>
            <a:off x="320040" y="4224528"/>
            <a:ext cx="85039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Latency fix, measured: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default thinking 20–28 s per brief (one 504 at the 30 s cap) → LOW thinking 3–9 s, all valid. 168 automated tests; mypy strict. </a:t>
            </a:r>
            <a:r>
              <a:rPr sz="950" i="1">
                <a:solidFill>
                  <a:srgbClr val="5F6368"/>
                </a:solidFill>
                <a:latin typeface="Google Sans Flex"/>
              </a:rPr>
              <a:t>No production accuracy or time-saved claims: the data is synthetic.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future 1"/>
          <p:cNvSpPr/>
          <p:nvPr/>
        </p:nvSpPr>
        <p:spPr>
          <a:xfrm>
            <a:off x="32004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8680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Spanner Graph or BigQuery for bank-scale transaction graphs, replacing in-memory NetworkX.</a:t>
            </a:r>
          </a:p>
        </p:txBody>
      </p:sp>
      <p:sp>
        <p:nvSpPr>
          <p:cNvPr id="147" name="future 2"/>
          <p:cNvSpPr/>
          <p:nvPr/>
        </p:nvSpPr>
        <p:spPr>
          <a:xfrm>
            <a:off x="461772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66359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Access and audit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Analyst sign-in, case-level access controls, and an audit log of every brief and citation click.</a:t>
            </a:r>
          </a:p>
        </p:txBody>
      </p:sp>
      <p:sp>
        <p:nvSpPr>
          <p:cNvPr id="150" name="future 3"/>
          <p:cNvSpPr/>
          <p:nvPr/>
        </p:nvSpPr>
        <p:spPr>
          <a:xfrm>
            <a:off x="32004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57200" y="278892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Back-test on the bank's labelled historical alerts, under its governance. Track analyst agreement before any accuracy claim.</a:t>
            </a:r>
          </a:p>
        </p:txBody>
      </p:sp>
      <p:sp>
        <p:nvSpPr>
          <p:cNvPr id="153" name="future 4"/>
          <p:cNvSpPr/>
          <p:nvPr/>
        </p:nvSpPr>
        <p:spPr>
          <a:xfrm>
            <a:off x="461772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54880" y="278892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66359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More patterns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Cycle detection, CSV import of the bank's own alerts, and cross-case links between accounts (cut from this build).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4206240"/>
            <a:ext cx="8503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5F6368"/>
                </a:solidFill>
                <a:latin typeface="Google Sans Flex SemiBold"/>
              </a:rPr>
              <a:t>Human-led: </a:t>
            </a:r>
            <a:r>
              <a:rPr sz="1100" i="0">
                <a:solidFill>
                  <a:srgbClr val="5F6368"/>
                </a:solidFill>
                <a:latin typeface="Google Sans Flex"/>
              </a:rPr>
              <a:t>the analyst always decides. TraceGuard prepares the evidence and the brief.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link 1"/>
          <p:cNvSpPr/>
          <p:nvPr/>
        </p:nvSpPr>
        <p:spPr>
          <a:xfrm>
            <a:off x="320040" y="1234440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75488" y="15087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1325880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GitHub Public Repository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5"/>
              </a:rPr>
              <a:t>https://github.com/shieryl-ryle/traceguard</a:t>
            </a:r>
          </a:p>
        </p:txBody>
      </p:sp>
      <p:sp>
        <p:nvSpPr>
          <p:cNvPr id="155" name="link 2"/>
          <p:cNvSpPr/>
          <p:nvPr/>
        </p:nvSpPr>
        <p:spPr>
          <a:xfrm>
            <a:off x="320040" y="2258568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75488" y="2532888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2350008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Demo Video Link (3 Minutes)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</a:rPr>
              <a:t>ADD-VIDEO-LINK-BEFORE-SUBMITTING</a:t>
            </a:r>
          </a:p>
        </p:txBody>
      </p:sp>
      <p:sp>
        <p:nvSpPr>
          <p:cNvPr id="158" name="link 3"/>
          <p:cNvSpPr/>
          <p:nvPr/>
        </p:nvSpPr>
        <p:spPr>
          <a:xfrm>
            <a:off x="320040" y="3282696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75488" y="3557016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14400" y="3374136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Final Product Link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6"/>
              </a:rPr>
              <a:t>https://traceguard-343683630064.asia-southeast1.run.app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20040" y="4343400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"/>
              </a:rPr>
              <a:t>Live app runs C-1, C-2 and C-3 end to end, including a real Gemini call. No sign-in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Limitations and responsible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limits 1"/>
          <p:cNvSpPr/>
          <p:nvPr/>
        </p:nvSpPr>
        <p:spPr>
          <a:xfrm>
            <a:off x="32004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68680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Limitations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only: 35 accounts, 102 transfers, one currency (PHP).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measured accuracy or time saved yet.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Fixed workflow: the model does not choose tools (stated plainly, not as autonomy).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authentication in the prototype.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Model wording varies between runs; the validator rejects bad output rather than preventing it.</a:t>
            </a:r>
          </a:p>
        </p:txBody>
      </p:sp>
      <p:sp>
        <p:nvSpPr>
          <p:cNvPr id="163" name="limits 2"/>
          <p:cNvSpPr/>
          <p:nvPr/>
        </p:nvSpPr>
        <p:spPr>
          <a:xfrm>
            <a:off x="461772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✓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66359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Safeguards built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5488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only; no employer or customer data (BR-001).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must exist in retrieved evidence (BR-002).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Numbers and flags from code, not the model (BR-003).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accusations, probabilities or risk scores (BR-004).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Unknowns stated; similar amounts are never called the same money (BR-005).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Live vs cached output always labelled (BR-006).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7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